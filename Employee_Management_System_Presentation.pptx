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A2BF-E0E7-208C-C1D7-80C71B97B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313C3-EDCC-08AE-9285-3FF2C20B2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AE5DA-C692-98BA-27BA-A38760AB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38F51-ACFF-16B8-253F-E58C6326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3E816-2541-6865-6FBF-04141293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5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A5B2-B300-624A-72DC-D3265912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244A5-1D54-42AF-0EAC-7AF594E99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21D53-0804-5F0E-3CD4-34FD7D86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837E7-2BEC-97A1-0E98-9351E102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026C7-9EF0-B91A-D1BF-A99B5677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52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4381-3E55-C106-7759-03B44D7F9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F562E-5B7C-DD7A-B45C-95B28A230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0D973-552D-E578-3715-F2254864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B027B-1A7D-B5D4-A6EC-2FBB385B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B745F-0743-BDEF-31FA-1A22B04B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60BB-B4F1-DA9C-A45F-9A3DFD21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A5774-E57D-8C9C-B410-3EBC1BEE4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D24DC-D9B4-D276-D61C-9A551D978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94FBB-16F4-6DD2-78D3-5F61ED2A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D44D7-19AB-7696-BC7A-ABFA2513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8B237-9277-3275-615F-EEAAE1B32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7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1850-BFFE-D5E3-B81E-CA50F395B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6ACF2-BE58-41D9-A169-5CD657E77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1490F-EDB5-7F25-3E35-A61D8EE03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C6437-5DAB-245F-8A12-0F2068134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CE524-039A-6A0E-940B-38742726D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DBBC7B-4277-8386-7668-787597D8C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AF970F-8527-7672-452A-7A2BF874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73A5D-CD4E-340F-59C8-94898BDC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5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FB709-35A2-7A93-A166-7B902EC6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BACBD-83B8-A9DD-E712-DC88ABE8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18AB98-7770-0BE2-647F-98A96DFA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3B364-7BAE-DD3A-E338-EEFA1218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67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74940-1BA3-66E0-B4A0-19F905233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F50E7-22EA-A580-4E52-62C9E6A2A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5D909-E6E9-0280-79C8-3DDE46CD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5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FCC56-BD4B-32FC-4A30-2BBEFFFC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7B63E-02FA-D59D-FDB7-EBC6B26F7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9DCFB-7123-783C-E3B0-1BF73ADAB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871E1-EA2E-59C5-29BB-B4E1E9E6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D3173-E9D0-5A8F-ADEC-92DD8FDE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8AE6A-7E42-7F22-E8EB-998E51EC9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7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05EF-E20E-D4BF-80A7-52BCC9DE3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535D6-35C6-316E-DEF4-9665CE8F2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2769F-1E0F-FD5E-5FE8-4BA331C5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29A0A-F44B-D16F-75A9-7386FBDD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199A3-8276-38EC-FCE1-EC9CDEB30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9755C-9857-319C-9789-007DA7F0B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6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ECB8-1EB2-E27B-1CD5-CCD8FB41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BF2F4-B6EA-4BD5-1CF6-DCD131095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4FE7-F6FF-BA8B-EF4C-39B38118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9DB39-AB77-901F-4366-1FF1CECB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0D7AC-710B-14F3-EF85-F8B550DA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FD63C-755F-7094-BF0E-8F7D5D599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343E8-D13D-A974-F853-A9390A44A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41022-3559-8983-2DE0-26BF5260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1CCB-975C-D5F1-33D7-542FEB8D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A02A9-5ED4-3305-3151-542E60AA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1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E8936E-DFE3-B5B8-9825-3581D229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CA13-A4C4-F667-8C1F-F38CA9CC4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E4EE2-C9E4-94B1-8905-97C7BA12E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149D6-3F1D-4708-8F9A-298F0F715B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871EC-24F3-F902-FEC6-6A5BC1691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AA21D-A8DE-78B1-05DC-73DD77CD9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E001E-182F-484A-8684-F0EB5486D5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9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A9EA154-D2E7-82A8-2845-730966A88EA8}"/>
              </a:ext>
            </a:extLst>
          </p:cNvPr>
          <p:cNvSpPr/>
          <p:nvPr/>
        </p:nvSpPr>
        <p:spPr>
          <a:xfrm>
            <a:off x="9080500" y="-1397000"/>
            <a:ext cx="4572000" cy="4572000"/>
          </a:xfrm>
          <a:prstGeom prst="ellipse">
            <a:avLst/>
          </a:prstGeom>
          <a:solidFill>
            <a:srgbClr val="4F7942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A122897-9C92-81A4-A965-7224A75EB531}"/>
              </a:ext>
            </a:extLst>
          </p:cNvPr>
          <p:cNvSpPr/>
          <p:nvPr/>
        </p:nvSpPr>
        <p:spPr>
          <a:xfrm>
            <a:off x="10096500" y="3683000"/>
            <a:ext cx="2794000" cy="2794000"/>
          </a:xfrm>
          <a:prstGeom prst="ellipse">
            <a:avLst/>
          </a:prstGeom>
          <a:solidFill>
            <a:srgbClr val="4382BE">
              <a:alpha val="5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DB5F5A-B2B9-0126-38E0-7E906B02786D}"/>
              </a:ext>
            </a:extLst>
          </p:cNvPr>
          <p:cNvSpPr/>
          <p:nvPr/>
        </p:nvSpPr>
        <p:spPr>
          <a:xfrm>
            <a:off x="685800" y="863600"/>
            <a:ext cx="660400" cy="635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6A414-54F3-E0B7-4C53-E73C1ECD2650}"/>
              </a:ext>
            </a:extLst>
          </p:cNvPr>
          <p:cNvSpPr txBox="1"/>
          <p:nvPr/>
        </p:nvSpPr>
        <p:spPr>
          <a:xfrm>
            <a:off x="685800" y="1117600"/>
            <a:ext cx="6350000" cy="1538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BECAD8"/>
                </a:solidFill>
                <a:latin typeface="Aptos" panose="020B0004020202020204" pitchFamily="34" charset="0"/>
              </a:rPr>
              <a:t>DESIDEA  |  APPLICATION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774235-DAE0-09AD-C8D3-CF8F92B2DC23}"/>
              </a:ext>
            </a:extLst>
          </p:cNvPr>
          <p:cNvSpPr txBox="1"/>
          <p:nvPr/>
        </p:nvSpPr>
        <p:spPr>
          <a:xfrm>
            <a:off x="685800" y="1968500"/>
            <a:ext cx="8001000" cy="1800493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3900" b="1">
                <a:solidFill>
                  <a:srgbClr val="FFFFFF"/>
                </a:solidFill>
                <a:latin typeface="Aptos" panose="020B0004020202020204" pitchFamily="34" charset="0"/>
              </a:rPr>
              <a:t>Employee
Management
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FD0A6E-9A90-3B38-BE0A-CCF58EA0BCB5}"/>
              </a:ext>
            </a:extLst>
          </p:cNvPr>
          <p:cNvSpPr txBox="1"/>
          <p:nvPr/>
        </p:nvSpPr>
        <p:spPr>
          <a:xfrm>
            <a:off x="711200" y="4749800"/>
            <a:ext cx="87630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D5DEE8"/>
                </a:solidFill>
                <a:latin typeface="Aptos" panose="020B0004020202020204" pitchFamily="34" charset="0"/>
              </a:rPr>
              <a:t>One workspace for employee records, requests and work delivery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A88B9-A900-DE8A-240F-F2CABE3D05BF}"/>
              </a:ext>
            </a:extLst>
          </p:cNvPr>
          <p:cNvSpPr txBox="1"/>
          <p:nvPr/>
        </p:nvSpPr>
        <p:spPr>
          <a:xfrm>
            <a:off x="711200" y="5778500"/>
            <a:ext cx="7620000" cy="1538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B9C9D8"/>
                </a:solidFill>
                <a:latin typeface="Aptos" panose="020B0004020202020204" pitchFamily="34" charset="0"/>
              </a:rPr>
              <a:t>FEATURES  |  WORKFLOWS  |  FUTURE ENHANCEMENTS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0D026-7E2F-52AC-21E5-6FAFE0466F27}"/>
              </a:ext>
            </a:extLst>
          </p:cNvPr>
          <p:cNvSpPr txBox="1"/>
          <p:nvPr/>
        </p:nvSpPr>
        <p:spPr>
          <a:xfrm>
            <a:off x="533400" y="6502400"/>
            <a:ext cx="63500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BECAD8"/>
                </a:solidFill>
                <a:latin typeface="Aptos" panose="020B0004020202020204" pitchFamily="34" charset="0"/>
              </a:rPr>
              <a:t>EMPLOYEE MANAGEMENT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C1B6C1-2E1F-C35D-15B4-9F2D26FEE0DE}"/>
              </a:ext>
            </a:extLst>
          </p:cNvPr>
          <p:cNvSpPr txBox="1"/>
          <p:nvPr/>
        </p:nvSpPr>
        <p:spPr>
          <a:xfrm>
            <a:off x="11239500" y="6502400"/>
            <a:ext cx="4318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>
                <a:solidFill>
                  <a:srgbClr val="BECAD8"/>
                </a:solidFill>
                <a:latin typeface="Aptos" panose="020B0004020202020204" pitchFamily="34" charset="0"/>
              </a:rPr>
              <a:t>1 / 6</a:t>
            </a:r>
          </a:p>
        </p:txBody>
      </p:sp>
    </p:spTree>
    <p:extLst>
      <p:ext uri="{BB962C8B-B14F-4D97-AF65-F5344CB8AC3E}">
        <p14:creationId xmlns:p14="http://schemas.microsoft.com/office/powerpoint/2010/main" val="20854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BC4026-B33F-945E-A1DB-859AF3EC0400}"/>
              </a:ext>
            </a:extLst>
          </p:cNvPr>
          <p:cNvSpPr txBox="1"/>
          <p:nvPr/>
        </p:nvSpPr>
        <p:spPr>
          <a:xfrm>
            <a:off x="609600" y="444500"/>
            <a:ext cx="2794000" cy="1538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4F7942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15AE9B-893B-4740-2B88-3FD545D0680F}"/>
              </a:ext>
            </a:extLst>
          </p:cNvPr>
          <p:cNvSpPr txBox="1"/>
          <p:nvPr/>
        </p:nvSpPr>
        <p:spPr>
          <a:xfrm>
            <a:off x="609600" y="774700"/>
            <a:ext cx="10414000" cy="430887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202D3D"/>
                </a:solidFill>
                <a:latin typeface="Aptos" panose="020B0004020202020204" pitchFamily="34" charset="0"/>
              </a:rPr>
              <a:t>Employee operations in one workspace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F987EF-8063-5F4E-DF9D-EA945E51A936}"/>
              </a:ext>
            </a:extLst>
          </p:cNvPr>
          <p:cNvSpPr txBox="1"/>
          <p:nvPr/>
        </p:nvSpPr>
        <p:spPr>
          <a:xfrm>
            <a:off x="609600" y="1435100"/>
            <a:ext cx="10414000" cy="21608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657383"/>
                </a:solidFill>
                <a:latin typeface="Aptos" panose="020B0004020202020204" pitchFamily="34" charset="0"/>
              </a:rPr>
              <a:t>The application brings core employee-management activities together, with access tailored to the user role.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667084-0A5F-1CB1-431B-FD9B9DBE972F}"/>
              </a:ext>
            </a:extLst>
          </p:cNvPr>
          <p:cNvSpPr/>
          <p:nvPr/>
        </p:nvSpPr>
        <p:spPr>
          <a:xfrm>
            <a:off x="609600" y="2336800"/>
            <a:ext cx="3429000" cy="2616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BBFA0B-8FF4-1835-02B1-4D09A6C65402}"/>
              </a:ext>
            </a:extLst>
          </p:cNvPr>
          <p:cNvSpPr/>
          <p:nvPr/>
        </p:nvSpPr>
        <p:spPr>
          <a:xfrm>
            <a:off x="838200" y="2590800"/>
            <a:ext cx="63500" cy="21082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4AE24-68BD-F156-CBE3-A47B1DCBEFDF}"/>
              </a:ext>
            </a:extLst>
          </p:cNvPr>
          <p:cNvSpPr txBox="1"/>
          <p:nvPr/>
        </p:nvSpPr>
        <p:spPr>
          <a:xfrm>
            <a:off x="1066800" y="2590800"/>
            <a:ext cx="27432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PEOPLE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22F0B-DE67-D864-2381-AA404C262CB0}"/>
              </a:ext>
            </a:extLst>
          </p:cNvPr>
          <p:cNvSpPr txBox="1"/>
          <p:nvPr/>
        </p:nvSpPr>
        <p:spPr>
          <a:xfrm>
            <a:off x="1066800" y="3060700"/>
            <a:ext cx="2743200" cy="57708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Employee and manager records, with administrative tools for managing the workforce.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5E4000-91FF-0307-A4C9-BE8F9B6D112B}"/>
              </a:ext>
            </a:extLst>
          </p:cNvPr>
          <p:cNvSpPr/>
          <p:nvPr/>
        </p:nvSpPr>
        <p:spPr>
          <a:xfrm>
            <a:off x="4381500" y="2336800"/>
            <a:ext cx="3429000" cy="2616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AA771-CC7C-53D0-A004-CC949D70918E}"/>
              </a:ext>
            </a:extLst>
          </p:cNvPr>
          <p:cNvSpPr/>
          <p:nvPr/>
        </p:nvSpPr>
        <p:spPr>
          <a:xfrm>
            <a:off x="4610100" y="2590800"/>
            <a:ext cx="63500" cy="2108200"/>
          </a:xfrm>
          <a:prstGeom prst="rect">
            <a:avLst/>
          </a:prstGeom>
          <a:solidFill>
            <a:srgbClr val="438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04983-AF52-11F3-AE38-4CBACE5E93B8}"/>
              </a:ext>
            </a:extLst>
          </p:cNvPr>
          <p:cNvSpPr txBox="1"/>
          <p:nvPr/>
        </p:nvSpPr>
        <p:spPr>
          <a:xfrm>
            <a:off x="4838700" y="2590800"/>
            <a:ext cx="27432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1ADFD9-2E08-D761-A782-96A2264564AD}"/>
              </a:ext>
            </a:extLst>
          </p:cNvPr>
          <p:cNvSpPr txBox="1"/>
          <p:nvPr/>
        </p:nvSpPr>
        <p:spPr>
          <a:xfrm>
            <a:off x="4838700" y="3060700"/>
            <a:ext cx="2743200" cy="57708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Projects, tasks, sprints, reviews and project timesheets support day-to-day delivery.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88172D-8CF1-A49C-316B-8D22BFF9E51F}"/>
              </a:ext>
            </a:extLst>
          </p:cNvPr>
          <p:cNvSpPr/>
          <p:nvPr/>
        </p:nvSpPr>
        <p:spPr>
          <a:xfrm>
            <a:off x="8153400" y="2336800"/>
            <a:ext cx="3429000" cy="2616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308A4B-89BB-6518-A529-7F546FA5DC37}"/>
              </a:ext>
            </a:extLst>
          </p:cNvPr>
          <p:cNvSpPr/>
          <p:nvPr/>
        </p:nvSpPr>
        <p:spPr>
          <a:xfrm>
            <a:off x="8382000" y="2590800"/>
            <a:ext cx="63500" cy="21082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7FB6FF-CFF9-324A-8C5A-30F0D871F6CA}"/>
              </a:ext>
            </a:extLst>
          </p:cNvPr>
          <p:cNvSpPr txBox="1"/>
          <p:nvPr/>
        </p:nvSpPr>
        <p:spPr>
          <a:xfrm>
            <a:off x="8610600" y="2590800"/>
            <a:ext cx="27432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EMPLOYEE SUPPORT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B96A21-8D82-8A6A-72FA-6B0449282184}"/>
              </a:ext>
            </a:extLst>
          </p:cNvPr>
          <p:cNvSpPr txBox="1"/>
          <p:nvPr/>
        </p:nvSpPr>
        <p:spPr>
          <a:xfrm>
            <a:off x="8610600" y="3060700"/>
            <a:ext cx="2743200" cy="57708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Leave requests, meeting calendar, notifications and an Employee Assistant.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709C23-E976-50DB-7020-78F39D35179C}"/>
              </a:ext>
            </a:extLst>
          </p:cNvPr>
          <p:cNvSpPr/>
          <p:nvPr/>
        </p:nvSpPr>
        <p:spPr>
          <a:xfrm>
            <a:off x="609600" y="5334000"/>
            <a:ext cx="10972800" cy="711200"/>
          </a:xfrm>
          <a:prstGeom prst="roundRect">
            <a:avLst/>
          </a:prstGeom>
          <a:solidFill>
            <a:srgbClr val="E0EF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B627E9-55F0-78E8-E27B-359EC7A32822}"/>
              </a:ext>
            </a:extLst>
          </p:cNvPr>
          <p:cNvSpPr txBox="1"/>
          <p:nvPr/>
        </p:nvSpPr>
        <p:spPr>
          <a:xfrm>
            <a:off x="863600" y="5562600"/>
            <a:ext cx="2540000" cy="138499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F7942"/>
                </a:solidFill>
                <a:latin typeface="Aptos" panose="020B0004020202020204" pitchFamily="34" charset="0"/>
              </a:rPr>
              <a:t>CURRENT APPLICATION SCOPE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833C7D-B2A3-9F3D-9F3C-46F3B9F1C930}"/>
              </a:ext>
            </a:extLst>
          </p:cNvPr>
          <p:cNvSpPr txBox="1"/>
          <p:nvPr/>
        </p:nvSpPr>
        <p:spPr>
          <a:xfrm>
            <a:off x="3454400" y="5524500"/>
            <a:ext cx="7747000" cy="184666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02D3D"/>
                </a:solidFill>
                <a:latin typeface="Aptos" panose="020B0004020202020204" pitchFamily="34" charset="0"/>
              </a:rPr>
              <a:t>Employee profiles  |  Leave  |  Projects  |  Time  |  Reviews  |  Communication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95C85F-6C58-93FE-2390-E5D8B461D259}"/>
              </a:ext>
            </a:extLst>
          </p:cNvPr>
          <p:cNvSpPr txBox="1"/>
          <p:nvPr/>
        </p:nvSpPr>
        <p:spPr>
          <a:xfrm>
            <a:off x="533400" y="6502400"/>
            <a:ext cx="63500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657383"/>
                </a:solidFill>
                <a:latin typeface="Aptos" panose="020B0004020202020204" pitchFamily="34" charset="0"/>
              </a:rPr>
              <a:t>EMPLOYEE MANAGEMENT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F172AB-EE2D-8D3E-3915-E4BACB0E23F0}"/>
              </a:ext>
            </a:extLst>
          </p:cNvPr>
          <p:cNvSpPr txBox="1"/>
          <p:nvPr/>
        </p:nvSpPr>
        <p:spPr>
          <a:xfrm>
            <a:off x="11239500" y="6502400"/>
            <a:ext cx="4318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>
                <a:solidFill>
                  <a:srgbClr val="657383"/>
                </a:solidFill>
                <a:latin typeface="Aptos" panose="020B0004020202020204" pitchFamily="34" charset="0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279002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7BF965-BB12-1065-F8C0-AF15E55D76A9}"/>
              </a:ext>
            </a:extLst>
          </p:cNvPr>
          <p:cNvSpPr txBox="1"/>
          <p:nvPr/>
        </p:nvSpPr>
        <p:spPr>
          <a:xfrm>
            <a:off x="609600" y="393700"/>
            <a:ext cx="3302000" cy="1538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4F7942"/>
                </a:solidFill>
                <a:latin typeface="Aptos" panose="020B0004020202020204" pitchFamily="34" charset="0"/>
              </a:rPr>
              <a:t>CURRENT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BB4618-7B51-B70B-72E3-90805C98E076}"/>
              </a:ext>
            </a:extLst>
          </p:cNvPr>
          <p:cNvSpPr txBox="1"/>
          <p:nvPr/>
        </p:nvSpPr>
        <p:spPr>
          <a:xfrm>
            <a:off x="609600" y="711200"/>
            <a:ext cx="10795000" cy="41549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202D3D"/>
                </a:solidFill>
                <a:latin typeface="Aptos" panose="020B0004020202020204" pitchFamily="34" charset="0"/>
              </a:rPr>
              <a:t>A quick look at the employee workspace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8C6EA4-0D1E-3950-606B-477B56797DFF}"/>
              </a:ext>
            </a:extLst>
          </p:cNvPr>
          <p:cNvSpPr txBox="1"/>
          <p:nvPr/>
        </p:nvSpPr>
        <p:spPr>
          <a:xfrm>
            <a:off x="609600" y="1282700"/>
            <a:ext cx="9906000" cy="20005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57383"/>
                </a:solidFill>
                <a:latin typeface="Aptos" panose="020B0004020202020204" pitchFamily="34" charset="0"/>
              </a:rPr>
              <a:t>Feature areas available in the application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7E5AD3-33B4-92C6-549E-41B135A8A0CC}"/>
              </a:ext>
            </a:extLst>
          </p:cNvPr>
          <p:cNvSpPr/>
          <p:nvPr/>
        </p:nvSpPr>
        <p:spPr>
          <a:xfrm>
            <a:off x="609600" y="1841500"/>
            <a:ext cx="3505200" cy="1943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D48C20-D673-2A9A-573B-8F274B2CB1FD}"/>
              </a:ext>
            </a:extLst>
          </p:cNvPr>
          <p:cNvSpPr/>
          <p:nvPr/>
        </p:nvSpPr>
        <p:spPr>
          <a:xfrm>
            <a:off x="838200" y="2095500"/>
            <a:ext cx="63500" cy="14351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77B1D-2020-7BAF-7F48-94E21FF12068}"/>
              </a:ext>
            </a:extLst>
          </p:cNvPr>
          <p:cNvSpPr txBox="1"/>
          <p:nvPr/>
        </p:nvSpPr>
        <p:spPr>
          <a:xfrm>
            <a:off x="1066800" y="2095500"/>
            <a:ext cx="28194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3FA4E2-8071-C7A4-BA39-86C1342D90E8}"/>
              </a:ext>
            </a:extLst>
          </p:cNvPr>
          <p:cNvSpPr txBox="1"/>
          <p:nvPr/>
        </p:nvSpPr>
        <p:spPr>
          <a:xfrm>
            <a:off x="1066800" y="2565400"/>
            <a:ext cx="2819400" cy="3847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A central starting point for employee-management work.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C90470-EFC6-DBE0-8817-612F2D205A59}"/>
              </a:ext>
            </a:extLst>
          </p:cNvPr>
          <p:cNvSpPr/>
          <p:nvPr/>
        </p:nvSpPr>
        <p:spPr>
          <a:xfrm>
            <a:off x="4343400" y="1841500"/>
            <a:ext cx="3505200" cy="1943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FFF2D7-3B0A-EE91-9BDE-A566179A7357}"/>
              </a:ext>
            </a:extLst>
          </p:cNvPr>
          <p:cNvSpPr/>
          <p:nvPr/>
        </p:nvSpPr>
        <p:spPr>
          <a:xfrm>
            <a:off x="4572000" y="2095500"/>
            <a:ext cx="63500" cy="1435100"/>
          </a:xfrm>
          <a:prstGeom prst="rect">
            <a:avLst/>
          </a:prstGeom>
          <a:solidFill>
            <a:srgbClr val="438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96299-5012-12C3-EECA-B1B09D2296D3}"/>
              </a:ext>
            </a:extLst>
          </p:cNvPr>
          <p:cNvSpPr txBox="1"/>
          <p:nvPr/>
        </p:nvSpPr>
        <p:spPr>
          <a:xfrm>
            <a:off x="4800600" y="2095500"/>
            <a:ext cx="28194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EMPLOYEES &amp; MANAGERS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DA909-14C7-453A-9DD3-5765EDA29247}"/>
              </a:ext>
            </a:extLst>
          </p:cNvPr>
          <p:cNvSpPr txBox="1"/>
          <p:nvPr/>
        </p:nvSpPr>
        <p:spPr>
          <a:xfrm>
            <a:off x="4800600" y="2565400"/>
            <a:ext cx="2819400" cy="3847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View employee records and access manager tools.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80961C-4181-416B-AA77-5D2FA3DCC4C0}"/>
              </a:ext>
            </a:extLst>
          </p:cNvPr>
          <p:cNvSpPr/>
          <p:nvPr/>
        </p:nvSpPr>
        <p:spPr>
          <a:xfrm>
            <a:off x="8077200" y="1841500"/>
            <a:ext cx="3505200" cy="1943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5E9AE7-7F54-8773-BD5E-A2DBA5501833}"/>
              </a:ext>
            </a:extLst>
          </p:cNvPr>
          <p:cNvSpPr/>
          <p:nvPr/>
        </p:nvSpPr>
        <p:spPr>
          <a:xfrm>
            <a:off x="8305800" y="2095500"/>
            <a:ext cx="63500" cy="14351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BCA37B-4A09-2330-0A83-C06BFCEE625A}"/>
              </a:ext>
            </a:extLst>
          </p:cNvPr>
          <p:cNvSpPr txBox="1"/>
          <p:nvPr/>
        </p:nvSpPr>
        <p:spPr>
          <a:xfrm>
            <a:off x="8534400" y="2095500"/>
            <a:ext cx="28194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LEAVE MANAGEMENT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C9B6F5-70B5-4018-283D-31B49501BC20}"/>
              </a:ext>
            </a:extLst>
          </p:cNvPr>
          <p:cNvSpPr txBox="1"/>
          <p:nvPr/>
        </p:nvSpPr>
        <p:spPr>
          <a:xfrm>
            <a:off x="8534400" y="2565400"/>
            <a:ext cx="2819400" cy="57708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Submit leave requests and review request status; authorized users can approve or reject.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068103-DFD9-91D5-C4C9-1633A84AA3E7}"/>
              </a:ext>
            </a:extLst>
          </p:cNvPr>
          <p:cNvSpPr/>
          <p:nvPr/>
        </p:nvSpPr>
        <p:spPr>
          <a:xfrm>
            <a:off x="609600" y="4025900"/>
            <a:ext cx="3505200" cy="1943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488AF0-A1E2-4C98-CAB5-54A18BEDA846}"/>
              </a:ext>
            </a:extLst>
          </p:cNvPr>
          <p:cNvSpPr/>
          <p:nvPr/>
        </p:nvSpPr>
        <p:spPr>
          <a:xfrm>
            <a:off x="838200" y="4279900"/>
            <a:ext cx="63500" cy="1435100"/>
          </a:xfrm>
          <a:prstGeom prst="rect">
            <a:avLst/>
          </a:prstGeom>
          <a:solidFill>
            <a:srgbClr val="438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0F4592-605F-ACA6-2A3D-07AA603C2E02}"/>
              </a:ext>
            </a:extLst>
          </p:cNvPr>
          <p:cNvSpPr txBox="1"/>
          <p:nvPr/>
        </p:nvSpPr>
        <p:spPr>
          <a:xfrm>
            <a:off x="1066800" y="4279900"/>
            <a:ext cx="28194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PROJECTS &amp; TASKS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77A91F-7AED-8F5A-B5E6-8F30A3631F69}"/>
              </a:ext>
            </a:extLst>
          </p:cNvPr>
          <p:cNvSpPr txBox="1"/>
          <p:nvPr/>
        </p:nvSpPr>
        <p:spPr>
          <a:xfrm>
            <a:off x="1066800" y="4749800"/>
            <a:ext cx="2819400" cy="3847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Manage projects, sprints, use cases and assigned work.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599355C-8479-C6C9-CC61-35D326ECDE4F}"/>
              </a:ext>
            </a:extLst>
          </p:cNvPr>
          <p:cNvSpPr/>
          <p:nvPr/>
        </p:nvSpPr>
        <p:spPr>
          <a:xfrm>
            <a:off x="4343400" y="4025900"/>
            <a:ext cx="3505200" cy="1943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45EA8E-DDB3-186E-E566-2CB1A8960FCA}"/>
              </a:ext>
            </a:extLst>
          </p:cNvPr>
          <p:cNvSpPr/>
          <p:nvPr/>
        </p:nvSpPr>
        <p:spPr>
          <a:xfrm>
            <a:off x="4572000" y="4279900"/>
            <a:ext cx="63500" cy="14351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BF9ABE-316E-3840-401B-FF4D53702568}"/>
              </a:ext>
            </a:extLst>
          </p:cNvPr>
          <p:cNvSpPr txBox="1"/>
          <p:nvPr/>
        </p:nvSpPr>
        <p:spPr>
          <a:xfrm>
            <a:off x="4800600" y="4279900"/>
            <a:ext cx="28194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TIMESHEETS &amp; CALENDAR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FB4B3-025E-A431-2F3E-651A0BB0EE27}"/>
              </a:ext>
            </a:extLst>
          </p:cNvPr>
          <p:cNvSpPr txBox="1"/>
          <p:nvPr/>
        </p:nvSpPr>
        <p:spPr>
          <a:xfrm>
            <a:off x="4800600" y="4749800"/>
            <a:ext cx="2819400" cy="3847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Log project hours and manage meetings and calendar items.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0C3F2BD-23BB-BF5D-0A1B-551F388CB2C6}"/>
              </a:ext>
            </a:extLst>
          </p:cNvPr>
          <p:cNvSpPr/>
          <p:nvPr/>
        </p:nvSpPr>
        <p:spPr>
          <a:xfrm>
            <a:off x="8077200" y="4025900"/>
            <a:ext cx="3505200" cy="19431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6B1AB4-4362-2E38-5370-0906EFE91228}"/>
              </a:ext>
            </a:extLst>
          </p:cNvPr>
          <p:cNvSpPr/>
          <p:nvPr/>
        </p:nvSpPr>
        <p:spPr>
          <a:xfrm>
            <a:off x="8305800" y="4279900"/>
            <a:ext cx="63500" cy="1435100"/>
          </a:xfrm>
          <a:prstGeom prst="rect">
            <a:avLst/>
          </a:prstGeom>
          <a:solidFill>
            <a:srgbClr val="438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0FD3C5-F8AA-0944-D7BF-7FB8E090D252}"/>
              </a:ext>
            </a:extLst>
          </p:cNvPr>
          <p:cNvSpPr txBox="1"/>
          <p:nvPr/>
        </p:nvSpPr>
        <p:spPr>
          <a:xfrm>
            <a:off x="8534400" y="4279900"/>
            <a:ext cx="28194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REVIEWS &amp; ASSISTANT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17ED5A-7521-D59F-8DEB-34F12EEDB23D}"/>
              </a:ext>
            </a:extLst>
          </p:cNvPr>
          <p:cNvSpPr txBox="1"/>
          <p:nvPr/>
        </p:nvSpPr>
        <p:spPr>
          <a:xfrm>
            <a:off x="8534400" y="4749800"/>
            <a:ext cx="2819400" cy="3847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Performance reviews, notifications and the in-app Employee Assistant.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EC5617-37F2-54DA-EC12-50D8765D19F4}"/>
              </a:ext>
            </a:extLst>
          </p:cNvPr>
          <p:cNvSpPr txBox="1"/>
          <p:nvPr/>
        </p:nvSpPr>
        <p:spPr>
          <a:xfrm>
            <a:off x="533400" y="6502400"/>
            <a:ext cx="63500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657383"/>
                </a:solidFill>
                <a:latin typeface="Aptos" panose="020B0004020202020204" pitchFamily="34" charset="0"/>
              </a:rPr>
              <a:t>EMPLOYEE MANAGEMENT SYSTEM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392849-00C5-7549-834A-74397FCB06F7}"/>
              </a:ext>
            </a:extLst>
          </p:cNvPr>
          <p:cNvSpPr txBox="1"/>
          <p:nvPr/>
        </p:nvSpPr>
        <p:spPr>
          <a:xfrm>
            <a:off x="11239500" y="6502400"/>
            <a:ext cx="4318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>
                <a:solidFill>
                  <a:srgbClr val="657383"/>
                </a:solidFill>
                <a:latin typeface="Aptos" panose="020B0004020202020204" pitchFamily="34" charset="0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1489511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F13122-F3D6-77D7-EB0C-A711C5202CA6}"/>
              </a:ext>
            </a:extLst>
          </p:cNvPr>
          <p:cNvSpPr txBox="1"/>
          <p:nvPr/>
        </p:nvSpPr>
        <p:spPr>
          <a:xfrm>
            <a:off x="609600" y="393700"/>
            <a:ext cx="3556000" cy="1538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4F7942"/>
                </a:solidFill>
                <a:latin typeface="Aptos" panose="020B0004020202020204" pitchFamily="34" charset="0"/>
              </a:rPr>
              <a:t>EMPLOYEE WORKFLOWS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D3109F-B4BF-A69B-BFA6-8F5E41F2FCB0}"/>
              </a:ext>
            </a:extLst>
          </p:cNvPr>
          <p:cNvSpPr txBox="1"/>
          <p:nvPr/>
        </p:nvSpPr>
        <p:spPr>
          <a:xfrm>
            <a:off x="609600" y="711200"/>
            <a:ext cx="10795000" cy="41549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202D3D"/>
                </a:solidFill>
                <a:latin typeface="Aptos" panose="020B0004020202020204" pitchFamily="34" charset="0"/>
              </a:rPr>
              <a:t>From people records to everyday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93470-B772-0C20-C2C5-0EE66401BA4E}"/>
              </a:ext>
            </a:extLst>
          </p:cNvPr>
          <p:cNvSpPr txBox="1"/>
          <p:nvPr/>
        </p:nvSpPr>
        <p:spPr>
          <a:xfrm>
            <a:off x="609600" y="1282700"/>
            <a:ext cx="10795000" cy="20005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57383"/>
                </a:solidFill>
                <a:latin typeface="Aptos" panose="020B0004020202020204" pitchFamily="34" charset="0"/>
              </a:rPr>
              <a:t>The modules support common workforce and project-management activities.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7B6A6A-A052-EEBD-D8B0-89FA473F90D9}"/>
              </a:ext>
            </a:extLst>
          </p:cNvPr>
          <p:cNvSpPr/>
          <p:nvPr/>
        </p:nvSpPr>
        <p:spPr>
          <a:xfrm>
            <a:off x="609600" y="1905000"/>
            <a:ext cx="5257800" cy="180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115DB2-04B9-6FAA-BF0B-A74F98067F80}"/>
              </a:ext>
            </a:extLst>
          </p:cNvPr>
          <p:cNvSpPr/>
          <p:nvPr/>
        </p:nvSpPr>
        <p:spPr>
          <a:xfrm>
            <a:off x="838200" y="2159000"/>
            <a:ext cx="63500" cy="12954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AD32B-2A8F-CC99-C039-0A909A36E08D}"/>
              </a:ext>
            </a:extLst>
          </p:cNvPr>
          <p:cNvSpPr txBox="1"/>
          <p:nvPr/>
        </p:nvSpPr>
        <p:spPr>
          <a:xfrm>
            <a:off x="1066800" y="2159000"/>
            <a:ext cx="45720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PEOPLE &amp; ACCESS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BA266-F254-628C-7D43-19E54ED95E8C}"/>
              </a:ext>
            </a:extLst>
          </p:cNvPr>
          <p:cNvSpPr txBox="1"/>
          <p:nvPr/>
        </p:nvSpPr>
        <p:spPr>
          <a:xfrm>
            <a:off x="1066800" y="2628900"/>
            <a:ext cx="4572000" cy="3847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Maintain employee information and use role-aware sign-in for the relevant workspace.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7E54377-F679-8A6E-D64E-62ACABC06F2F}"/>
              </a:ext>
            </a:extLst>
          </p:cNvPr>
          <p:cNvSpPr/>
          <p:nvPr/>
        </p:nvSpPr>
        <p:spPr>
          <a:xfrm>
            <a:off x="6324600" y="1905000"/>
            <a:ext cx="5257800" cy="180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059AA9-0CF5-40B2-FD86-58D36530C7E5}"/>
              </a:ext>
            </a:extLst>
          </p:cNvPr>
          <p:cNvSpPr/>
          <p:nvPr/>
        </p:nvSpPr>
        <p:spPr>
          <a:xfrm>
            <a:off x="6553200" y="2159000"/>
            <a:ext cx="63500" cy="1295400"/>
          </a:xfrm>
          <a:prstGeom prst="rect">
            <a:avLst/>
          </a:prstGeom>
          <a:solidFill>
            <a:srgbClr val="438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BBA5A-0A8F-7C13-528F-DA7E0E8FEC4F}"/>
              </a:ext>
            </a:extLst>
          </p:cNvPr>
          <p:cNvSpPr txBox="1"/>
          <p:nvPr/>
        </p:nvSpPr>
        <p:spPr>
          <a:xfrm>
            <a:off x="6781800" y="2159000"/>
            <a:ext cx="45720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LEAVE REQUESTS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2E26E-2A1D-F75C-8C09-15A74E28A23B}"/>
              </a:ext>
            </a:extLst>
          </p:cNvPr>
          <p:cNvSpPr txBox="1"/>
          <p:nvPr/>
        </p:nvSpPr>
        <p:spPr>
          <a:xfrm>
            <a:off x="6781800" y="2628900"/>
            <a:ext cx="4572000" cy="3847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Employees can apply for leave and follow its status; authorized users can process requests.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6262AD-C327-FEBA-7B38-721EC1B78E6F}"/>
              </a:ext>
            </a:extLst>
          </p:cNvPr>
          <p:cNvSpPr/>
          <p:nvPr/>
        </p:nvSpPr>
        <p:spPr>
          <a:xfrm>
            <a:off x="609600" y="4038600"/>
            <a:ext cx="5257800" cy="180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B1BF8-598D-732E-AB8E-B37604332985}"/>
              </a:ext>
            </a:extLst>
          </p:cNvPr>
          <p:cNvSpPr/>
          <p:nvPr/>
        </p:nvSpPr>
        <p:spPr>
          <a:xfrm>
            <a:off x="838200" y="4292600"/>
            <a:ext cx="63500" cy="1295400"/>
          </a:xfrm>
          <a:prstGeom prst="rect">
            <a:avLst/>
          </a:prstGeom>
          <a:solidFill>
            <a:srgbClr val="438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BFB71-B1D4-FA12-B54A-6B4F8B15F4A5}"/>
              </a:ext>
            </a:extLst>
          </p:cNvPr>
          <p:cNvSpPr txBox="1"/>
          <p:nvPr/>
        </p:nvSpPr>
        <p:spPr>
          <a:xfrm>
            <a:off x="1066800" y="4292600"/>
            <a:ext cx="45720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PROJECT DELIVERY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9B787E-A9BB-7AE6-16D5-C2B65303138E}"/>
              </a:ext>
            </a:extLst>
          </p:cNvPr>
          <p:cNvSpPr txBox="1"/>
          <p:nvPr/>
        </p:nvSpPr>
        <p:spPr>
          <a:xfrm>
            <a:off x="1066800" y="4762500"/>
            <a:ext cx="4572000" cy="3847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Organize projects, work items and sprints, and support review workflows.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209157-3CCE-C446-8D83-43E48D494C20}"/>
              </a:ext>
            </a:extLst>
          </p:cNvPr>
          <p:cNvSpPr/>
          <p:nvPr/>
        </p:nvSpPr>
        <p:spPr>
          <a:xfrm>
            <a:off x="6324600" y="4038600"/>
            <a:ext cx="5257800" cy="1803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538DA7-386E-5AE3-7EA7-8D80D5C02328}"/>
              </a:ext>
            </a:extLst>
          </p:cNvPr>
          <p:cNvSpPr/>
          <p:nvPr/>
        </p:nvSpPr>
        <p:spPr>
          <a:xfrm>
            <a:off x="6553200" y="4292600"/>
            <a:ext cx="63500" cy="12954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A71C48-AAB3-DECA-B375-5C156CE15CB9}"/>
              </a:ext>
            </a:extLst>
          </p:cNvPr>
          <p:cNvSpPr txBox="1"/>
          <p:nvPr/>
        </p:nvSpPr>
        <p:spPr>
          <a:xfrm>
            <a:off x="6781800" y="4292600"/>
            <a:ext cx="45720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TIME &amp; COMMUNICATION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0250AA-D681-8860-46BF-A4472CF75FF5}"/>
              </a:ext>
            </a:extLst>
          </p:cNvPr>
          <p:cNvSpPr txBox="1"/>
          <p:nvPr/>
        </p:nvSpPr>
        <p:spPr>
          <a:xfrm>
            <a:off x="6781800" y="4762500"/>
            <a:ext cx="4572000" cy="38472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Record project hours, use the meeting calendar, receive notifications and ask the Employee Assistant.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E28D1F-EAF8-B988-24AB-ADC1250C9B36}"/>
              </a:ext>
            </a:extLst>
          </p:cNvPr>
          <p:cNvSpPr txBox="1"/>
          <p:nvPr/>
        </p:nvSpPr>
        <p:spPr>
          <a:xfrm>
            <a:off x="609600" y="6096000"/>
            <a:ext cx="6350000" cy="1538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657383"/>
                </a:solidFill>
                <a:latin typeface="Aptos" panose="020B0004020202020204" pitchFamily="34" charset="0"/>
              </a:rPr>
              <a:t>Employee-focused scope only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10E607-C97D-E3EC-0610-B2F024C25B74}"/>
              </a:ext>
            </a:extLst>
          </p:cNvPr>
          <p:cNvSpPr txBox="1"/>
          <p:nvPr/>
        </p:nvSpPr>
        <p:spPr>
          <a:xfrm>
            <a:off x="533400" y="6502400"/>
            <a:ext cx="63500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657383"/>
                </a:solidFill>
                <a:latin typeface="Aptos" panose="020B0004020202020204" pitchFamily="34" charset="0"/>
              </a:rPr>
              <a:t>EMPLOYEE MANAGEMENT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849607-C9B1-26A5-E265-17B99F85F365}"/>
              </a:ext>
            </a:extLst>
          </p:cNvPr>
          <p:cNvSpPr txBox="1"/>
          <p:nvPr/>
        </p:nvSpPr>
        <p:spPr>
          <a:xfrm>
            <a:off x="11239500" y="6502400"/>
            <a:ext cx="4318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>
                <a:solidFill>
                  <a:srgbClr val="657383"/>
                </a:solidFill>
                <a:latin typeface="Aptos" panose="020B0004020202020204" pitchFamily="34" charset="0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404674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4AE07-1D4C-D109-14BD-C1F1B9F70396}"/>
              </a:ext>
            </a:extLst>
          </p:cNvPr>
          <p:cNvSpPr txBox="1"/>
          <p:nvPr/>
        </p:nvSpPr>
        <p:spPr>
          <a:xfrm>
            <a:off x="609600" y="393700"/>
            <a:ext cx="5715000" cy="1538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4F7942"/>
                </a:solidFill>
                <a:latin typeface="Aptos" panose="020B0004020202020204" pitchFamily="34" charset="0"/>
              </a:rPr>
              <a:t>FUTURE ENHANCEMENTS  |  PROPOSED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8B7934-EA25-847F-24AA-1D13E9BB9DE7}"/>
              </a:ext>
            </a:extLst>
          </p:cNvPr>
          <p:cNvSpPr txBox="1"/>
          <p:nvPr/>
        </p:nvSpPr>
        <p:spPr>
          <a:xfrm>
            <a:off x="609600" y="711200"/>
            <a:ext cx="10795000" cy="41549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202D3D"/>
                </a:solidFill>
                <a:latin typeface="Aptos" panose="020B0004020202020204" pitchFamily="34" charset="0"/>
              </a:rPr>
              <a:t>Ideas to build on the current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3EA63-6167-9F16-46E4-08E0345581C3}"/>
              </a:ext>
            </a:extLst>
          </p:cNvPr>
          <p:cNvSpPr txBox="1"/>
          <p:nvPr/>
        </p:nvSpPr>
        <p:spPr>
          <a:xfrm>
            <a:off x="609600" y="1282700"/>
            <a:ext cx="10795000" cy="20005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57383"/>
                </a:solidFill>
                <a:latin typeface="Aptos" panose="020B0004020202020204" pitchFamily="34" charset="0"/>
              </a:rPr>
              <a:t>These are future ideas, not features represented as already complete.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25D0A7-F5B9-F0CE-D2EE-7DD95046390B}"/>
              </a:ext>
            </a:extLst>
          </p:cNvPr>
          <p:cNvSpPr/>
          <p:nvPr/>
        </p:nvSpPr>
        <p:spPr>
          <a:xfrm>
            <a:off x="609600" y="1943100"/>
            <a:ext cx="34290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B2D695-4593-2A9E-AC69-07FC29B08793}"/>
              </a:ext>
            </a:extLst>
          </p:cNvPr>
          <p:cNvSpPr/>
          <p:nvPr/>
        </p:nvSpPr>
        <p:spPr>
          <a:xfrm>
            <a:off x="838200" y="2197100"/>
            <a:ext cx="63500" cy="2159000"/>
          </a:xfrm>
          <a:prstGeom prst="rect">
            <a:avLst/>
          </a:prstGeom>
          <a:solidFill>
            <a:srgbClr val="438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46853-A30E-C5FB-6A91-D00C8E847B9A}"/>
              </a:ext>
            </a:extLst>
          </p:cNvPr>
          <p:cNvSpPr txBox="1"/>
          <p:nvPr/>
        </p:nvSpPr>
        <p:spPr>
          <a:xfrm>
            <a:off x="1066800" y="2197100"/>
            <a:ext cx="27432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MICROSOFT TEAMS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38F08-C692-4429-C8D2-A2E4DB0698CD}"/>
              </a:ext>
            </a:extLst>
          </p:cNvPr>
          <p:cNvSpPr txBox="1"/>
          <p:nvPr/>
        </p:nvSpPr>
        <p:spPr>
          <a:xfrm>
            <a:off x="1066800" y="2667000"/>
            <a:ext cx="2743200" cy="57708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Explore deeper Teams connectivity for employee meetings, notifications and collaboration.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4F6CE2-8897-4766-3477-6A8CD313DAF2}"/>
              </a:ext>
            </a:extLst>
          </p:cNvPr>
          <p:cNvSpPr/>
          <p:nvPr/>
        </p:nvSpPr>
        <p:spPr>
          <a:xfrm>
            <a:off x="4381500" y="1943100"/>
            <a:ext cx="34290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DF7AF5-4353-871E-4F37-39270A42E456}"/>
              </a:ext>
            </a:extLst>
          </p:cNvPr>
          <p:cNvSpPr/>
          <p:nvPr/>
        </p:nvSpPr>
        <p:spPr>
          <a:xfrm>
            <a:off x="4610100" y="2197100"/>
            <a:ext cx="63500" cy="21590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EC276-941B-DE82-38E2-9FED12496F04}"/>
              </a:ext>
            </a:extLst>
          </p:cNvPr>
          <p:cNvSpPr txBox="1"/>
          <p:nvPr/>
        </p:nvSpPr>
        <p:spPr>
          <a:xfrm>
            <a:off x="4838700" y="2197100"/>
            <a:ext cx="27432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SHAREPOINT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F18139-2F0D-88FE-DEFF-4194E5BA9E56}"/>
              </a:ext>
            </a:extLst>
          </p:cNvPr>
          <p:cNvSpPr txBox="1"/>
          <p:nvPr/>
        </p:nvSpPr>
        <p:spPr>
          <a:xfrm>
            <a:off x="4838700" y="2667000"/>
            <a:ext cx="2743200" cy="57708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Explore displaying selected employee-management information in SharePoint, with appropriate access controls.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192D6F-5708-5827-2F0B-60A4B7DC19CA}"/>
              </a:ext>
            </a:extLst>
          </p:cNvPr>
          <p:cNvSpPr/>
          <p:nvPr/>
        </p:nvSpPr>
        <p:spPr>
          <a:xfrm>
            <a:off x="8153400" y="1943100"/>
            <a:ext cx="34290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A5C111-F1AE-CC31-BD71-E2F04FBA6E76}"/>
              </a:ext>
            </a:extLst>
          </p:cNvPr>
          <p:cNvSpPr/>
          <p:nvPr/>
        </p:nvSpPr>
        <p:spPr>
          <a:xfrm>
            <a:off x="8382000" y="2197100"/>
            <a:ext cx="63500" cy="2159000"/>
          </a:xfrm>
          <a:prstGeom prst="rect">
            <a:avLst/>
          </a:prstGeom>
          <a:solidFill>
            <a:srgbClr val="4382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8A3920-91C6-6D01-10E7-F0BB8459ECBC}"/>
              </a:ext>
            </a:extLst>
          </p:cNvPr>
          <p:cNvSpPr txBox="1"/>
          <p:nvPr/>
        </p:nvSpPr>
        <p:spPr>
          <a:xfrm>
            <a:off x="8610600" y="2197100"/>
            <a:ext cx="2743200" cy="261610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202D3D"/>
                </a:solidFill>
                <a:latin typeface="Aptos" panose="020B0004020202020204" pitchFamily="34" charset="0"/>
              </a:rPr>
              <a:t>EMPLOYEE ASSISTANT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49A0FE-4FFD-F823-BA02-9CC72950EC12}"/>
              </a:ext>
            </a:extLst>
          </p:cNvPr>
          <p:cNvSpPr txBox="1"/>
          <p:nvPr/>
        </p:nvSpPr>
        <p:spPr>
          <a:xfrm>
            <a:off x="8610600" y="2667000"/>
            <a:ext cx="2743200" cy="577081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657383"/>
                </a:solidFill>
                <a:latin typeface="Aptos" panose="020B0004020202020204" pitchFamily="34" charset="0"/>
              </a:rPr>
              <a:t>Enhance the chatbot with more useful employee self-service answers and guided help.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79C068-F31C-EA93-CB2D-A3677086CA16}"/>
              </a:ext>
            </a:extLst>
          </p:cNvPr>
          <p:cNvSpPr/>
          <p:nvPr/>
        </p:nvSpPr>
        <p:spPr>
          <a:xfrm>
            <a:off x="609600" y="4953000"/>
            <a:ext cx="10972800" cy="1092200"/>
          </a:xfrm>
          <a:prstGeom prst="roundRect">
            <a:avLst/>
          </a:prstGeom>
          <a:solidFill>
            <a:srgbClr val="1F32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E00CA2-45CF-8C09-6415-4CAB5040AD02}"/>
              </a:ext>
            </a:extLst>
          </p:cNvPr>
          <p:cNvSpPr txBox="1"/>
          <p:nvPr/>
        </p:nvSpPr>
        <p:spPr>
          <a:xfrm>
            <a:off x="889000" y="5194300"/>
            <a:ext cx="2413000" cy="138499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B3D3A9"/>
                </a:solidFill>
                <a:latin typeface="Aptos" panose="020B0004020202020204" pitchFamily="34" charset="0"/>
              </a:rPr>
              <a:t>SUGGESTED FIRST STEP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C3E2DB-0133-7CD1-6652-A2F916884D01}"/>
              </a:ext>
            </a:extLst>
          </p:cNvPr>
          <p:cNvSpPr txBox="1"/>
          <p:nvPr/>
        </p:nvSpPr>
        <p:spPr>
          <a:xfrm>
            <a:off x="889000" y="5524500"/>
            <a:ext cx="10287000" cy="20005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Aptos" panose="020B0004020202020204" pitchFamily="34" charset="0"/>
              </a:rPr>
              <a:t>Choose the integration use cases and confirm which employee data each user role should be able to access.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C5E2EF-F7CA-C5AF-EE7B-FBE3B5859FE5}"/>
              </a:ext>
            </a:extLst>
          </p:cNvPr>
          <p:cNvSpPr txBox="1"/>
          <p:nvPr/>
        </p:nvSpPr>
        <p:spPr>
          <a:xfrm>
            <a:off x="533400" y="6502400"/>
            <a:ext cx="63500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657383"/>
                </a:solidFill>
                <a:latin typeface="Aptos" panose="020B0004020202020204" pitchFamily="34" charset="0"/>
              </a:rPr>
              <a:t>EMPLOYEE MANAGEMENT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D0E566-C253-1464-4CB2-3FE98B971A90}"/>
              </a:ext>
            </a:extLst>
          </p:cNvPr>
          <p:cNvSpPr txBox="1"/>
          <p:nvPr/>
        </p:nvSpPr>
        <p:spPr>
          <a:xfrm>
            <a:off x="11239500" y="6502400"/>
            <a:ext cx="4318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>
                <a:solidFill>
                  <a:srgbClr val="657383"/>
                </a:solidFill>
                <a:latin typeface="Aptos" panose="020B0004020202020204" pitchFamily="34" charset="0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911209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F2DB4E7-D0AF-220A-D2E2-A4DBBA7CAFC5}"/>
              </a:ext>
            </a:extLst>
          </p:cNvPr>
          <p:cNvSpPr/>
          <p:nvPr/>
        </p:nvSpPr>
        <p:spPr>
          <a:xfrm>
            <a:off x="9080500" y="-1397000"/>
            <a:ext cx="4572000" cy="4572000"/>
          </a:xfrm>
          <a:prstGeom prst="ellipse">
            <a:avLst/>
          </a:prstGeom>
          <a:solidFill>
            <a:srgbClr val="4F7942">
              <a:alpha val="7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C362EB4-DB41-44DD-732C-037DEB43BAC1}"/>
              </a:ext>
            </a:extLst>
          </p:cNvPr>
          <p:cNvSpPr/>
          <p:nvPr/>
        </p:nvSpPr>
        <p:spPr>
          <a:xfrm>
            <a:off x="10096500" y="3683000"/>
            <a:ext cx="2794000" cy="2794000"/>
          </a:xfrm>
          <a:prstGeom prst="ellipse">
            <a:avLst/>
          </a:prstGeom>
          <a:solidFill>
            <a:srgbClr val="4382BE">
              <a:alpha val="5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561D74-4C27-F1EC-7162-D20B076ED970}"/>
              </a:ext>
            </a:extLst>
          </p:cNvPr>
          <p:cNvSpPr/>
          <p:nvPr/>
        </p:nvSpPr>
        <p:spPr>
          <a:xfrm>
            <a:off x="685800" y="863600"/>
            <a:ext cx="660400" cy="635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15E9A-9B51-3A1E-DEE2-3006CE2491C0}"/>
              </a:ext>
            </a:extLst>
          </p:cNvPr>
          <p:cNvSpPr txBox="1"/>
          <p:nvPr/>
        </p:nvSpPr>
        <p:spPr>
          <a:xfrm>
            <a:off x="685800" y="1993900"/>
            <a:ext cx="7620000" cy="58477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48149-96C4-DA0A-8617-B5D5214C618F}"/>
              </a:ext>
            </a:extLst>
          </p:cNvPr>
          <p:cNvSpPr txBox="1"/>
          <p:nvPr/>
        </p:nvSpPr>
        <p:spPr>
          <a:xfrm>
            <a:off x="711200" y="3022600"/>
            <a:ext cx="8890000" cy="307777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D5DEE8"/>
                </a:solidFill>
                <a:latin typeface="Aptos" panose="020B0004020202020204" pitchFamily="34" charset="0"/>
              </a:rPr>
              <a:t>Questions and suggestions are welcome.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BABDA1-1D8D-1FD0-AB8B-BC6386667B0B}"/>
              </a:ext>
            </a:extLst>
          </p:cNvPr>
          <p:cNvSpPr txBox="1"/>
          <p:nvPr/>
        </p:nvSpPr>
        <p:spPr>
          <a:xfrm>
            <a:off x="711200" y="3746500"/>
            <a:ext cx="8890000" cy="230832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B9C9D8"/>
                </a:solidFill>
                <a:latin typeface="Aptos" panose="020B0004020202020204" pitchFamily="34" charset="0"/>
              </a:rPr>
              <a:t>What would you like to improve next?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9A804F-5307-C607-9E7A-BF9169203AED}"/>
              </a:ext>
            </a:extLst>
          </p:cNvPr>
          <p:cNvSpPr/>
          <p:nvPr/>
        </p:nvSpPr>
        <p:spPr>
          <a:xfrm>
            <a:off x="711200" y="4572000"/>
            <a:ext cx="2032000" cy="38100"/>
          </a:xfrm>
          <a:prstGeom prst="rect">
            <a:avLst/>
          </a:prstGeom>
          <a:solidFill>
            <a:srgbClr val="4F79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DC5032-8FA7-6977-AF62-2158A2467C66}"/>
              </a:ext>
            </a:extLst>
          </p:cNvPr>
          <p:cNvSpPr txBox="1"/>
          <p:nvPr/>
        </p:nvSpPr>
        <p:spPr>
          <a:xfrm>
            <a:off x="711200" y="4927600"/>
            <a:ext cx="6350000" cy="153888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BECAD8"/>
                </a:solidFill>
                <a:latin typeface="Aptos" panose="020B0004020202020204" pitchFamily="34" charset="0"/>
              </a:rPr>
              <a:t>EMPLOYEE MANAGEMENT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718FB5-F75A-CB5E-87A7-71FC4D45484C}"/>
              </a:ext>
            </a:extLst>
          </p:cNvPr>
          <p:cNvSpPr txBox="1"/>
          <p:nvPr/>
        </p:nvSpPr>
        <p:spPr>
          <a:xfrm>
            <a:off x="533400" y="6502400"/>
            <a:ext cx="63500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>
                <a:solidFill>
                  <a:srgbClr val="BECAD8"/>
                </a:solidFill>
                <a:latin typeface="Aptos" panose="020B0004020202020204" pitchFamily="34" charset="0"/>
              </a:rPr>
              <a:t>EMPLOYEE MANAGEMENT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DE013B-E97F-3DD6-80D5-5021A62E37F8}"/>
              </a:ext>
            </a:extLst>
          </p:cNvPr>
          <p:cNvSpPr txBox="1"/>
          <p:nvPr/>
        </p:nvSpPr>
        <p:spPr>
          <a:xfrm>
            <a:off x="11239500" y="6502400"/>
            <a:ext cx="431800" cy="130805"/>
          </a:xfrm>
          <a:prstGeom prst="rect">
            <a:avLst/>
          </a:prstGeom>
          <a:solidFill>
            <a:scrgbClr r="0" g="0" b="0">
              <a:alpha val="0"/>
            </a:scrgbClr>
          </a:solidFill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>
                <a:solidFill>
                  <a:srgbClr val="BECAD8"/>
                </a:solidFill>
                <a:latin typeface="Aptos" panose="020B0004020202020204" pitchFamily="34" charset="0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108594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PresentationFormat>On-screen Show (16:10)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Vanhitha Karnati</dc:creator>
  <cp:lastModifiedBy>Vanhitha Karnati</cp:lastModifiedBy>
  <cp:revision>1</cp:revision>
  <dcterms:created xsi:type="dcterms:W3CDTF">2026-10-12T08:47:16Z</dcterms:created>
  <dcterms:modified xsi:type="dcterms:W3CDTF">2026-10-12T08:47:16Z</dcterms:modified>
</cp:coreProperties>
</file>